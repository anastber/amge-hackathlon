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IVDVTb3JPflxDGEMDJWYle5CU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e8e6034358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g3e8e6034358_5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e8e6034358_5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8e6034358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8e6034358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e8e6034358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8e6034358_5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e8e6034358_5_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e8e6034358_5_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65750" y="548650"/>
            <a:ext cx="847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HACKATHON AMGE-CARAVANE · DATA &amp; AI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b="1" lang="en-US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Team: LGC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600210" y="1051560"/>
            <a:ext cx="5943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Croissance de la marketplace :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Où sont les vrais leviers ?</a:t>
            </a:r>
            <a:endParaRPr b="1" sz="3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297180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Analyse de 82 009 commandes · 2 568 vendeurs · 79 371 clients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Période : septembre 2016 – juin 2018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3931920"/>
            <a:ext cx="1965960" cy="868680"/>
          </a:xfrm>
          <a:prstGeom prst="rect">
            <a:avLst/>
          </a:prstGeom>
          <a:solidFill>
            <a:srgbClr val="243E60"/>
          </a:solidFill>
          <a:ln cap="flat" cmpd="sng" w="12700">
            <a:solidFill>
              <a:srgbClr val="243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65760" y="395020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11,3M B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437083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 total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514600" y="3931920"/>
            <a:ext cx="1965960" cy="868680"/>
          </a:xfrm>
          <a:prstGeom prst="rect">
            <a:avLst/>
          </a:prstGeom>
          <a:solidFill>
            <a:srgbClr val="243E60"/>
          </a:solidFill>
          <a:ln cap="flat" cmpd="sng" w="12700">
            <a:solidFill>
              <a:srgbClr val="243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514600" y="395020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13,2 jours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514600" y="437083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Délai moyen livraison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663440" y="3931920"/>
            <a:ext cx="1965960" cy="868680"/>
          </a:xfrm>
          <a:prstGeom prst="rect">
            <a:avLst/>
          </a:prstGeom>
          <a:solidFill>
            <a:srgbClr val="243E60"/>
          </a:solidFill>
          <a:ln cap="flat" cmpd="sng" w="12700">
            <a:solidFill>
              <a:srgbClr val="243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4663440" y="395020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606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663440" y="437083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Distance moy. client–vendeur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812280" y="3931920"/>
            <a:ext cx="1965960" cy="868680"/>
          </a:xfrm>
          <a:prstGeom prst="rect">
            <a:avLst/>
          </a:prstGeom>
          <a:solidFill>
            <a:srgbClr val="243E60"/>
          </a:solidFill>
          <a:ln cap="flat" cmpd="sng" w="12700">
            <a:solidFill>
              <a:srgbClr val="243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812280" y="395020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812280" y="437083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Clients récurrents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e8e6034358_5_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e8e6034358_5_0"/>
          <p:cNvSpPr/>
          <p:nvPr/>
        </p:nvSpPr>
        <p:spPr>
          <a:xfrm>
            <a:off x="0" y="0"/>
            <a:ext cx="3474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e8e6034358_5_0"/>
          <p:cNvSpPr/>
          <p:nvPr/>
        </p:nvSpPr>
        <p:spPr>
          <a:xfrm>
            <a:off x="3474720" y="0"/>
            <a:ext cx="5669280" cy="73152"/>
          </a:xfrm>
          <a:prstGeom prst="rect">
            <a:avLst/>
          </a:prstGeom>
          <a:solidFill>
            <a:srgbClr val="2EC4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e8e6034358_5_0"/>
          <p:cNvSpPr/>
          <p:nvPr/>
        </p:nvSpPr>
        <p:spPr>
          <a:xfrm>
            <a:off x="365760" y="2560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e8e6034358_5_0"/>
          <p:cNvSpPr/>
          <p:nvPr/>
        </p:nvSpPr>
        <p:spPr>
          <a:xfrm>
            <a:off x="365760" y="493776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 Dataset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g3e8e6034358_5_0"/>
          <p:cNvCxnSpPr/>
          <p:nvPr/>
        </p:nvCxnSpPr>
        <p:spPr>
          <a:xfrm>
            <a:off x="365760" y="987552"/>
            <a:ext cx="2834640" cy="0"/>
          </a:xfrm>
          <a:prstGeom prst="straightConnector1">
            <a:avLst/>
          </a:prstGeom>
          <a:noFill/>
          <a:ln cap="flat" cmpd="sng" w="152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g3e8e6034358_5_0"/>
          <p:cNvSpPr/>
          <p:nvPr/>
        </p:nvSpPr>
        <p:spPr>
          <a:xfrm>
            <a:off x="365760" y="1234440"/>
            <a:ext cx="82296" cy="8229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e8e6034358_5_0"/>
          <p:cNvSpPr/>
          <p:nvPr/>
        </p:nvSpPr>
        <p:spPr>
          <a:xfrm>
            <a:off x="530352" y="111556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5 159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e8e6034358_5_0"/>
          <p:cNvSpPr/>
          <p:nvPr/>
        </p:nvSpPr>
        <p:spPr>
          <a:xfrm>
            <a:off x="530352" y="142646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produit distincts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e8e6034358_5_0"/>
          <p:cNvSpPr/>
          <p:nvPr/>
        </p:nvSpPr>
        <p:spPr>
          <a:xfrm>
            <a:off x="365760" y="1984248"/>
            <a:ext cx="82296" cy="8229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e8e6034358_5_0"/>
          <p:cNvSpPr/>
          <p:nvPr/>
        </p:nvSpPr>
        <p:spPr>
          <a:xfrm>
            <a:off x="530352" y="18653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82 009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e8e6034358_5_0"/>
          <p:cNvSpPr/>
          <p:nvPr/>
        </p:nvSpPr>
        <p:spPr>
          <a:xfrm>
            <a:off x="530352" y="217627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commandes uniques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e8e6034358_5_0"/>
          <p:cNvSpPr/>
          <p:nvPr/>
        </p:nvSpPr>
        <p:spPr>
          <a:xfrm>
            <a:off x="365760" y="2734056"/>
            <a:ext cx="82296" cy="8229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e8e6034358_5_0"/>
          <p:cNvSpPr/>
          <p:nvPr/>
        </p:nvSpPr>
        <p:spPr>
          <a:xfrm>
            <a:off x="530352" y="261518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e8e6034358_5_0"/>
          <p:cNvSpPr/>
          <p:nvPr/>
        </p:nvSpPr>
        <p:spPr>
          <a:xfrm>
            <a:off x="530352" y="29260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catégories de produits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e8e6034358_5_0"/>
          <p:cNvSpPr/>
          <p:nvPr/>
        </p:nvSpPr>
        <p:spPr>
          <a:xfrm>
            <a:off x="365760" y="3410712"/>
            <a:ext cx="283464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e8e6034358_5_0"/>
          <p:cNvSpPr/>
          <p:nvPr/>
        </p:nvSpPr>
        <p:spPr>
          <a:xfrm>
            <a:off x="457200" y="3419856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  </a:t>
            </a:r>
            <a:r>
              <a:rPr b="0" i="0" lang="en-US" sz="9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Période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sept. 2016 – juin 2018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e8e6034358_5_0"/>
          <p:cNvSpPr/>
          <p:nvPr/>
        </p:nvSpPr>
        <p:spPr>
          <a:xfrm>
            <a:off x="365760" y="4069080"/>
            <a:ext cx="2834640" cy="530352"/>
          </a:xfrm>
          <a:prstGeom prst="rect">
            <a:avLst/>
          </a:prstGeom>
          <a:solidFill>
            <a:srgbClr val="1E3A5F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8e6034358_5_0"/>
          <p:cNvSpPr/>
          <p:nvPr/>
        </p:nvSpPr>
        <p:spPr>
          <a:xfrm>
            <a:off x="457200" y="4096512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Variable cible  </a:t>
            </a:r>
            <a:r>
              <a:rPr b="1" i="0" lang="en-US" sz="11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delivery_time_days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e8e6034358_5_0"/>
          <p:cNvSpPr/>
          <p:nvPr/>
        </p:nvSpPr>
        <p:spPr>
          <a:xfrm>
            <a:off x="3749040" y="256032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A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C4A5"/>
                </a:solidFill>
                <a:latin typeface="Calibri"/>
                <a:ea typeface="Calibri"/>
                <a:cs typeface="Calibri"/>
                <a:sym typeface="Calibri"/>
              </a:rPr>
              <a:t>ACTEURS DU MARCHÉ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e8e6034358_5_0"/>
          <p:cNvSpPr/>
          <p:nvPr/>
        </p:nvSpPr>
        <p:spPr>
          <a:xfrm>
            <a:off x="3749040" y="594360"/>
            <a:ext cx="24231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e8e6034358_5_0"/>
          <p:cNvSpPr/>
          <p:nvPr/>
        </p:nvSpPr>
        <p:spPr>
          <a:xfrm>
            <a:off x="3749040" y="594360"/>
            <a:ext cx="64008" cy="1280160"/>
          </a:xfrm>
          <a:prstGeom prst="rect">
            <a:avLst/>
          </a:prstGeom>
          <a:solidFill>
            <a:srgbClr val="2EC4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e8e6034358_5_0"/>
          <p:cNvSpPr/>
          <p:nvPr/>
        </p:nvSpPr>
        <p:spPr>
          <a:xfrm>
            <a:off x="3904488" y="6583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Vendeurs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e8e6034358_5_0"/>
          <p:cNvSpPr/>
          <p:nvPr/>
        </p:nvSpPr>
        <p:spPr>
          <a:xfrm>
            <a:off x="3904488" y="88696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2 568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e8e6034358_5_0"/>
          <p:cNvSpPr/>
          <p:nvPr/>
        </p:nvSpPr>
        <p:spPr>
          <a:xfrm>
            <a:off x="3904488" y="14630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actifs sur la période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e8e6034358_5_0"/>
          <p:cNvSpPr/>
          <p:nvPr/>
        </p:nvSpPr>
        <p:spPr>
          <a:xfrm>
            <a:off x="6309360" y="59436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e8e6034358_5_0"/>
          <p:cNvSpPr/>
          <p:nvPr/>
        </p:nvSpPr>
        <p:spPr>
          <a:xfrm>
            <a:off x="6309360" y="594360"/>
            <a:ext cx="64008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e8e6034358_5_0"/>
          <p:cNvSpPr/>
          <p:nvPr/>
        </p:nvSpPr>
        <p:spPr>
          <a:xfrm>
            <a:off x="6464808" y="65836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Clients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e8e6034358_5_0"/>
          <p:cNvSpPr/>
          <p:nvPr/>
        </p:nvSpPr>
        <p:spPr>
          <a:xfrm>
            <a:off x="6464808" y="886968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79 371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e8e6034358_5_0"/>
          <p:cNvSpPr/>
          <p:nvPr/>
        </p:nvSpPr>
        <p:spPr>
          <a:xfrm>
            <a:off x="6464808" y="14630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acheteurs uniques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e8e6034358_5_0"/>
          <p:cNvSpPr/>
          <p:nvPr/>
        </p:nvSpPr>
        <p:spPr>
          <a:xfrm>
            <a:off x="3749040" y="2057400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e8e6034358_5_0"/>
          <p:cNvSpPr/>
          <p:nvPr/>
        </p:nvSpPr>
        <p:spPr>
          <a:xfrm>
            <a:off x="3749040" y="2331720"/>
            <a:ext cx="512064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e8e6034358_5_0"/>
          <p:cNvSpPr/>
          <p:nvPr/>
        </p:nvSpPr>
        <p:spPr>
          <a:xfrm>
            <a:off x="3749040" y="2331720"/>
            <a:ext cx="64008" cy="749808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e8e6034358_5_0"/>
          <p:cNvSpPr/>
          <p:nvPr/>
        </p:nvSpPr>
        <p:spPr>
          <a:xfrm>
            <a:off x="3904488" y="2404872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Volume de données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e8e6034358_5_0"/>
          <p:cNvSpPr/>
          <p:nvPr/>
        </p:nvSpPr>
        <p:spPr>
          <a:xfrm>
            <a:off x="3904488" y="2624328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5 159 produits distincts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e8e6034358_5_0"/>
          <p:cNvSpPr/>
          <p:nvPr/>
        </p:nvSpPr>
        <p:spPr>
          <a:xfrm>
            <a:off x="3749040" y="3182112"/>
            <a:ext cx="512064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8e6034358_5_0"/>
          <p:cNvSpPr/>
          <p:nvPr/>
        </p:nvSpPr>
        <p:spPr>
          <a:xfrm>
            <a:off x="3749040" y="3182112"/>
            <a:ext cx="64008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e8e6034358_5_0"/>
          <p:cNvSpPr/>
          <p:nvPr/>
        </p:nvSpPr>
        <p:spPr>
          <a:xfrm>
            <a:off x="3904488" y="3255264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Couverture temporelle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e8e6034358_5_0"/>
          <p:cNvSpPr/>
          <p:nvPr/>
        </p:nvSpPr>
        <p:spPr>
          <a:xfrm>
            <a:off x="3904488" y="347472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21 mois d'historique de transactions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e8e6034358_5_0"/>
          <p:cNvSpPr/>
          <p:nvPr/>
        </p:nvSpPr>
        <p:spPr>
          <a:xfrm>
            <a:off x="3749040" y="4032504"/>
            <a:ext cx="512064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e8e6034358_5_0"/>
          <p:cNvSpPr/>
          <p:nvPr/>
        </p:nvSpPr>
        <p:spPr>
          <a:xfrm>
            <a:off x="3749040" y="4032504"/>
            <a:ext cx="64008" cy="74980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e8e6034358_5_0"/>
          <p:cNvSpPr/>
          <p:nvPr/>
        </p:nvSpPr>
        <p:spPr>
          <a:xfrm>
            <a:off x="3904488" y="4105656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Granularité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e8e6034358_5_0"/>
          <p:cNvSpPr/>
          <p:nvPr/>
        </p:nvSpPr>
        <p:spPr>
          <a:xfrm>
            <a:off x="3904488" y="4325112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1 ligne = 1 produit commandé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e8e6034358_5_0"/>
          <p:cNvSpPr/>
          <p:nvPr/>
        </p:nvSpPr>
        <p:spPr>
          <a:xfrm>
            <a:off x="3566160" y="4873752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Modélisation prédictive · Marketplace Brazil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8e6034358_0_10"/>
          <p:cNvSpPr/>
          <p:nvPr/>
        </p:nvSpPr>
        <p:spPr>
          <a:xfrm>
            <a:off x="505305" y="166150"/>
            <a:ext cx="4076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Features retenues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e8e6034358_0_10"/>
          <p:cNvSpPr/>
          <p:nvPr/>
        </p:nvSpPr>
        <p:spPr>
          <a:xfrm>
            <a:off x="6465851" y="0"/>
            <a:ext cx="2664300" cy="5143500"/>
          </a:xfrm>
          <a:prstGeom prst="rect">
            <a:avLst/>
          </a:prstGeom>
          <a:solidFill>
            <a:srgbClr val="243E6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8e6034358_0_10"/>
          <p:cNvSpPr txBox="1"/>
          <p:nvPr/>
        </p:nvSpPr>
        <p:spPr>
          <a:xfrm>
            <a:off x="347550" y="1025450"/>
            <a:ext cx="5680800" cy="3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FEATURES BRUTES:</a:t>
            </a:r>
            <a:endParaRPr b="1" sz="9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customer_city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seller_city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customer_lat / customer_lng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 seller_lat / seller_lng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product_category_name_english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order_purchase_timestamp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order_approved_at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price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freight_value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product_weight_g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 volume_cm3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FEATURES CRÉÉES: 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distance_km: distance géographique Haversine entre le client et le vendeur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product_density: densité du produit : poids divisé par volume (g/cm³)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seller_mean_delivery: délai de livraison historique moyen du vendeur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purchase_month: mois extrait du timestamp de commande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8e6034358_5_49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8e6034358_5_49"/>
          <p:cNvSpPr/>
          <p:nvPr/>
        </p:nvSpPr>
        <p:spPr>
          <a:xfrm>
            <a:off x="0" y="0"/>
            <a:ext cx="3474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8e6034358_5_49"/>
          <p:cNvSpPr/>
          <p:nvPr/>
        </p:nvSpPr>
        <p:spPr>
          <a:xfrm>
            <a:off x="3474720" y="0"/>
            <a:ext cx="5669280" cy="7315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8e6034358_5_49"/>
          <p:cNvSpPr/>
          <p:nvPr/>
        </p:nvSpPr>
        <p:spPr>
          <a:xfrm>
            <a:off x="365760" y="2560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MÉTHODOLOGIE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e8e6034358_5_49"/>
          <p:cNvSpPr/>
          <p:nvPr/>
        </p:nvSpPr>
        <p:spPr>
          <a:xfrm>
            <a:off x="365760" y="493776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Méthodes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utilisées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g3e8e6034358_5_49"/>
          <p:cNvCxnSpPr/>
          <p:nvPr/>
        </p:nvCxnSpPr>
        <p:spPr>
          <a:xfrm>
            <a:off x="365760" y="1353312"/>
            <a:ext cx="2834640" cy="0"/>
          </a:xfrm>
          <a:prstGeom prst="straightConnector1">
            <a:avLst/>
          </a:prstGeom>
          <a:noFill/>
          <a:ln cap="flat" cmpd="sng" w="152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g3e8e6034358_5_49"/>
          <p:cNvSpPr/>
          <p:nvPr/>
        </p:nvSpPr>
        <p:spPr>
          <a:xfrm>
            <a:off x="365760" y="1481328"/>
            <a:ext cx="2834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Approche supervisée pour prédire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le délai de livraison à partir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des caractéristiques produit,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vendeur et commande.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e8e6034358_5_49"/>
          <p:cNvSpPr/>
          <p:nvPr/>
        </p:nvSpPr>
        <p:spPr>
          <a:xfrm>
            <a:off x="365760" y="2971800"/>
            <a:ext cx="2834640" cy="1600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8e6034358_5_49"/>
          <p:cNvSpPr/>
          <p:nvPr/>
        </p:nvSpPr>
        <p:spPr>
          <a:xfrm>
            <a:off x="365760" y="2971800"/>
            <a:ext cx="28346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e8e6034358_5_49"/>
          <p:cNvSpPr/>
          <p:nvPr/>
        </p:nvSpPr>
        <p:spPr>
          <a:xfrm>
            <a:off x="457200" y="3054096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RÉSULTAT FINAL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e8e6034358_5_49"/>
          <p:cNvSpPr/>
          <p:nvPr/>
        </p:nvSpPr>
        <p:spPr>
          <a:xfrm>
            <a:off x="457200" y="3291840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2.84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e8e6034358_5_49"/>
          <p:cNvSpPr/>
          <p:nvPr/>
        </p:nvSpPr>
        <p:spPr>
          <a:xfrm>
            <a:off x="457200" y="39776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jours d'erreur moyenne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sur le test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e8e6034358_5_49"/>
          <p:cNvSpPr/>
          <p:nvPr/>
        </p:nvSpPr>
        <p:spPr>
          <a:xfrm>
            <a:off x="3749040" y="256032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61FF"/>
                </a:solidFill>
                <a:latin typeface="Calibri"/>
                <a:ea typeface="Calibri"/>
                <a:cs typeface="Calibri"/>
                <a:sym typeface="Calibri"/>
              </a:rPr>
              <a:t>PIPELINE DE VALIDATION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e8e6034358_5_49"/>
          <p:cNvSpPr/>
          <p:nvPr/>
        </p:nvSpPr>
        <p:spPr>
          <a:xfrm>
            <a:off x="3749040" y="548640"/>
            <a:ext cx="51206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8e6034358_5_49"/>
          <p:cNvSpPr/>
          <p:nvPr/>
        </p:nvSpPr>
        <p:spPr>
          <a:xfrm>
            <a:off x="3749040" y="54864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e8e6034358_5_49"/>
          <p:cNvSpPr/>
          <p:nvPr/>
        </p:nvSpPr>
        <p:spPr>
          <a:xfrm>
            <a:off x="3858768" y="685800"/>
            <a:ext cx="420624" cy="420624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8e6034358_5_49"/>
          <p:cNvSpPr/>
          <p:nvPr/>
        </p:nvSpPr>
        <p:spPr>
          <a:xfrm>
            <a:off x="3858768" y="6858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e8e6034358_5_49"/>
          <p:cNvSpPr/>
          <p:nvPr/>
        </p:nvSpPr>
        <p:spPr>
          <a:xfrm>
            <a:off x="4389120" y="658368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Validation croisée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e8e6034358_5_49"/>
          <p:cNvSpPr/>
          <p:nvPr/>
        </p:nvSpPr>
        <p:spPr>
          <a:xfrm>
            <a:off x="4389120" y="987552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K-Fold avec K=5 — le dataset est découpé en 5 blocs, le modèle est entraîné 5 fois pour garantir une évaluation robuste et non biaisée.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e8e6034358_5_49"/>
          <p:cNvSpPr/>
          <p:nvPr/>
        </p:nvSpPr>
        <p:spPr>
          <a:xfrm>
            <a:off x="3749040" y="2057400"/>
            <a:ext cx="51206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e8e6034358_5_49"/>
          <p:cNvSpPr/>
          <p:nvPr/>
        </p:nvSpPr>
        <p:spPr>
          <a:xfrm>
            <a:off x="3749040" y="2057400"/>
            <a:ext cx="64008" cy="13716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8e6034358_5_49"/>
          <p:cNvSpPr/>
          <p:nvPr/>
        </p:nvSpPr>
        <p:spPr>
          <a:xfrm>
            <a:off x="3858768" y="2194560"/>
            <a:ext cx="420624" cy="420624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8e6034358_5_49"/>
          <p:cNvSpPr/>
          <p:nvPr/>
        </p:nvSpPr>
        <p:spPr>
          <a:xfrm>
            <a:off x="3858768" y="21945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e8e6034358_5_49"/>
          <p:cNvSpPr/>
          <p:nvPr/>
        </p:nvSpPr>
        <p:spPr>
          <a:xfrm>
            <a:off x="4389120" y="2167128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Métrique d'évaluation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e8e6034358_5_49"/>
          <p:cNvSpPr/>
          <p:nvPr/>
        </p:nvSpPr>
        <p:spPr>
          <a:xfrm>
            <a:off x="4389120" y="2496312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MAE (Mean Absolute Error) — mesure l'erreur moyenne en jours entre la livraison prédite et la livraison réelle. Interprétable directement.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e8e6034358_5_49"/>
          <p:cNvSpPr/>
          <p:nvPr/>
        </p:nvSpPr>
        <p:spPr>
          <a:xfrm>
            <a:off x="3749040" y="3566160"/>
            <a:ext cx="51206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8e6034358_5_49"/>
          <p:cNvSpPr/>
          <p:nvPr/>
        </p:nvSpPr>
        <p:spPr>
          <a:xfrm>
            <a:off x="3749040" y="3566160"/>
            <a:ext cx="64008" cy="13716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8e6034358_5_49"/>
          <p:cNvSpPr/>
          <p:nvPr/>
        </p:nvSpPr>
        <p:spPr>
          <a:xfrm>
            <a:off x="3858768" y="3703320"/>
            <a:ext cx="420624" cy="42062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8e6034358_5_49"/>
          <p:cNvSpPr/>
          <p:nvPr/>
        </p:nvSpPr>
        <p:spPr>
          <a:xfrm>
            <a:off x="3858768" y="37033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e8e6034358_5_49"/>
          <p:cNvSpPr/>
          <p:nvPr/>
        </p:nvSpPr>
        <p:spPr>
          <a:xfrm>
            <a:off x="4389120" y="3675888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Modèle : LightGBM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e8e6034358_5_49"/>
          <p:cNvSpPr/>
          <p:nvPr/>
        </p:nvSpPr>
        <p:spPr>
          <a:xfrm>
            <a:off x="4389120" y="4005072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Gradient Boosting optimisé pour données tabulaires — rapide, performant sur de petits datasets, résistant aux valeurs aberrantes.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e8e6034358_5_49"/>
          <p:cNvSpPr/>
          <p:nvPr/>
        </p:nvSpPr>
        <p:spPr>
          <a:xfrm>
            <a:off x="3566160" y="4873752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Modélisation prédictive · Marketplace Brazil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/>
          <p:nvPr/>
        </p:nvSpPr>
        <p:spPr>
          <a:xfrm>
            <a:off x="365760" y="50292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La marketplace a un problème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de rétention, pas d'acquisition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365760" y="1691640"/>
            <a:ext cx="8412480" cy="86868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"/>
          <p:cNvSpPr/>
          <p:nvPr/>
        </p:nvSpPr>
        <p:spPr>
          <a:xfrm>
            <a:off x="365760" y="1691640"/>
            <a:ext cx="54864" cy="86868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502920" y="169164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97%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1600200" y="178308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 clients ne commandent qu'une seule fois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1600200" y="2112264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77 004 clients sur 79 371 sont des acheteurs uniques. Seuls 196 clients ont commandé 3 fois ou plus.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365760" y="2697480"/>
            <a:ext cx="8412480" cy="86868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FF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365760" y="2697480"/>
            <a:ext cx="54864" cy="8686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02920" y="269748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34%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1600200" y="278892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 commandes mettent plus de 14 jours à arriver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1600200" y="3118104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délai moyen est de 13,2 jours. Il monte à 18,4 jours pour les clients les plus éloignés de leur vendeur.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365760" y="3703320"/>
            <a:ext cx="8412480" cy="86868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"/>
          <p:cNvSpPr/>
          <p:nvPr/>
        </p:nvSpPr>
        <p:spPr>
          <a:xfrm>
            <a:off x="365760" y="3703320"/>
            <a:ext cx="54864" cy="868680"/>
          </a:xfrm>
          <a:prstGeom prst="rect">
            <a:avLst/>
          </a:prstGeom>
          <a:solidFill>
            <a:srgbClr val="2E6DB4"/>
          </a:solidFill>
          <a:ln cap="flat" cmpd="sng" w="12700">
            <a:solidFill>
              <a:srgbClr val="2E6D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"/>
          <p:cNvSpPr/>
          <p:nvPr/>
        </p:nvSpPr>
        <p:spPr>
          <a:xfrm>
            <a:off x="502920" y="370332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B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6DB4"/>
                </a:solidFill>
                <a:latin typeface="Calibri"/>
                <a:ea typeface="Calibri"/>
                <a:cs typeface="Calibri"/>
                <a:sym typeface="Calibri"/>
              </a:rPr>
              <a:t>59%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1600200" y="379476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 vendeurs génèrent moins de 10 commandes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1600200" y="4123944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top 100 vendeurs (sur 2 568) concentre 47,6% du CA total. La majorité des vendeurs est sous-active.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/>
          <p:nvPr/>
        </p:nvSpPr>
        <p:spPr>
          <a:xfrm>
            <a:off x="365760" y="5029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97% des clients ne reviennent jamais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365760" y="12344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Chaque client acquis est une opportunité manquée si l'expérience de livraison déçoit. Le taux de rétention de 3% est le signal d'alarme principal de la marketplace.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365760" y="2286000"/>
            <a:ext cx="4754880" cy="47548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457200" y="2286000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79 371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1783080" y="228600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clients uniques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365760" y="2852928"/>
            <a:ext cx="4754880" cy="475488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457200" y="2852928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77 004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1783080" y="285292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n'ont commandé qu'une seule fois (97%)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65760" y="3419856"/>
            <a:ext cx="4754880" cy="47548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457200" y="3419856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2 171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783080" y="3419856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ont commandé exactement 2 fois (2,7%)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365760" y="3986784"/>
            <a:ext cx="4754880" cy="47548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457200" y="3986784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1783080" y="3986784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ont commandé 3 fois ou plus (0,2%)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457200"/>
            <a:ext cx="365760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"/>
          <p:cNvSpPr/>
          <p:nvPr/>
        </p:nvSpPr>
        <p:spPr>
          <a:xfrm>
            <a:off x="5303520" y="3657600"/>
            <a:ext cx="3657600" cy="1143000"/>
          </a:xfrm>
          <a:prstGeom prst="rect">
            <a:avLst/>
          </a:prstGeom>
          <a:solidFill>
            <a:srgbClr val="FFF7ED"/>
          </a:solidFill>
          <a:ln cap="flat" cmpd="sng" w="15225">
            <a:solidFill>
              <a:srgbClr val="F59E0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5303520" y="36576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1" lang="en-US" sz="16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Réactiver 10% des one-shot = 7700 clients = 7700 commandes </a:t>
            </a:r>
            <a:endParaRPr b="1" sz="1600">
              <a:solidFill>
                <a:srgbClr val="92400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1" lang="en-US" sz="16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=  +1.06M BRL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La distance est le premier ennemi des délais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234440"/>
            <a:ext cx="502920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6" name="Google Shape;17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234440"/>
            <a:ext cx="393192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"/>
          <p:cNvSpPr/>
          <p:nvPr/>
        </p:nvSpPr>
        <p:spPr>
          <a:xfrm>
            <a:off x="274320" y="3886200"/>
            <a:ext cx="8686800" cy="9601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274320" y="3886200"/>
            <a:ext cx="54864" cy="960120"/>
          </a:xfrm>
          <a:prstGeom prst="rect">
            <a:avLst/>
          </a:prstGeom>
          <a:solidFill>
            <a:srgbClr val="2E6DB4"/>
          </a:solidFill>
          <a:ln cap="flat" cmpd="sng" w="12700">
            <a:solidFill>
              <a:srgbClr val="2E6D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502920" y="393192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Insight clé : livrer un client proche prend 7,5 jours en moyenne. Livrer un client loin prend 18,4 jours — soit 2,4× plus long.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Notre modèle ML de prédiction peut orienter chaque commande vers le vendeur le plus proche du client.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Une offre concentrée sur trop peu de vendeurs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234440"/>
            <a:ext cx="512064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080" y="1097280"/>
            <a:ext cx="3749039" cy="260603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5"/>
          <p:cNvSpPr/>
          <p:nvPr/>
        </p:nvSpPr>
        <p:spPr>
          <a:xfrm>
            <a:off x="274320" y="3931920"/>
            <a:ext cx="2743200" cy="86868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274320" y="3950208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42,3%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274320" y="432511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 vendeurs ont &lt; 5 commandes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172968" y="3931920"/>
            <a:ext cx="2743200" cy="86868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FF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3172968" y="3950208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3,3%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3172968" y="432511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 CA généré par le bottom 50%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071616" y="3931920"/>
            <a:ext cx="2743200" cy="86868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6071616" y="3950208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47,6%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6071616" y="432511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 CA = top 100 vendeurs seulement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/>
          <p:nvPr/>
        </p:nvSpPr>
        <p:spPr>
          <a:xfrm>
            <a:off x="365760" y="50292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Des listings trop pauvres freinent les ventes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0"/>
            <a:ext cx="4572001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/>
          <p:nvPr/>
        </p:nvSpPr>
        <p:spPr>
          <a:xfrm>
            <a:off x="5120640" y="1371600"/>
            <a:ext cx="3749100" cy="8229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5120640" y="1371600"/>
            <a:ext cx="54900" cy="8229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5303520" y="1417320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49,7%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303520" y="1828800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 produits n'ont qu'une seule photo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120640" y="2377440"/>
            <a:ext cx="3749100" cy="8229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5120640" y="2377440"/>
            <a:ext cx="549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5303520" y="2423160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+19%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5303520" y="2834640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CA moyen avec 3 photos vs 1 photo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120640" y="3383280"/>
            <a:ext cx="3749100" cy="8229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5120640" y="3383280"/>
            <a:ext cx="54900" cy="822900"/>
          </a:xfrm>
          <a:prstGeom prst="rect">
            <a:avLst/>
          </a:prstGeom>
          <a:solidFill>
            <a:srgbClr val="2E6DB4"/>
          </a:solidFill>
          <a:ln cap="flat" cmpd="sng" w="12700">
            <a:solidFill>
              <a:srgbClr val="2E6D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5303520" y="3429000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B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6DB4"/>
                </a:solidFill>
                <a:latin typeface="Calibri"/>
                <a:ea typeface="Calibri"/>
                <a:cs typeface="Calibri"/>
                <a:sym typeface="Calibri"/>
              </a:rPr>
              <a:t>30,4%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303520" y="3840480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 produits ont 3 photos ou plus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120640" y="4297680"/>
            <a:ext cx="3749100" cy="594300"/>
          </a:xfrm>
          <a:prstGeom prst="rect">
            <a:avLst/>
          </a:prstGeom>
          <a:solidFill>
            <a:srgbClr val="FFF7ED"/>
          </a:solidFill>
          <a:ln cap="flat" cmpd="sng" w="15225">
            <a:solidFill>
              <a:srgbClr val="F59E0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5120650" y="4297675"/>
            <a:ext cx="3749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-&gt; Gain potentiel si tous passent à 3 photos: + 1.23M BRL</a:t>
            </a:r>
            <a:endParaRPr b="1" sz="1000">
              <a:solidFill>
                <a:srgbClr val="92400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1" lang="en-US" sz="13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1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ACTION : Contacter 2115 vendeurs pour mise à niveau listings</a:t>
            </a:r>
            <a:endParaRPr b="1" sz="100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Des pics d'activité prévisibles pour mieux anticiper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0"/>
            <a:ext cx="859536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7"/>
          <p:cNvSpPr/>
          <p:nvPr/>
        </p:nvSpPr>
        <p:spPr>
          <a:xfrm>
            <a:off x="274320" y="3931920"/>
            <a:ext cx="2743200" cy="868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365760" y="39776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Mai 2018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365760" y="42976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pic à 10 294 commandes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200400" y="3931920"/>
            <a:ext cx="2743200" cy="868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3291840" y="39776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Fév–Mar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291840" y="42976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délais les plus longs (15–16 j)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126480" y="3931920"/>
            <a:ext cx="2743200" cy="868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6217920" y="39776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Jul–Aoû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6217920" y="42976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creux à ~4 000 cmd/mois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Notre recommandation stratégique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274320" y="1280160"/>
            <a:ext cx="8595360" cy="109728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274320" y="1280160"/>
            <a:ext cx="73152" cy="1097280"/>
          </a:xfrm>
          <a:prstGeom prst="rect">
            <a:avLst/>
          </a:prstGeom>
          <a:solidFill>
            <a:srgbClr val="2E6DB4"/>
          </a:solidFill>
          <a:ln cap="flat" cmpd="sng" w="12700">
            <a:solidFill>
              <a:srgbClr val="2E6D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457200" y="1600200"/>
            <a:ext cx="411480" cy="411480"/>
          </a:xfrm>
          <a:prstGeom prst="ellipse">
            <a:avLst/>
          </a:prstGeom>
          <a:solidFill>
            <a:srgbClr val="2E6DB4"/>
          </a:solidFill>
          <a:ln cap="flat" cmpd="sng" w="12700">
            <a:solidFill>
              <a:srgbClr val="2E6D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457200" y="16002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051560" y="1353312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Réduire les délais grâce au modèle 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051560" y="171907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modèle prédit le délai dès la commande passée. La plateforme peut orienter vers le vendeur le plus proche. Distance actuelle : 606 km en moyenne. Q1 : 7,5 j vs Q4 : 18,4 j.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309360" y="1417320"/>
            <a:ext cx="2423160" cy="310896"/>
          </a:xfrm>
          <a:prstGeom prst="rect">
            <a:avLst/>
          </a:prstGeom>
          <a:solidFill>
            <a:srgbClr val="2E6DB4"/>
          </a:solidFill>
          <a:ln cap="flat" cmpd="sng" w="12700">
            <a:solidFill>
              <a:srgbClr val="2E6D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6355080" y="144475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Délai médian actuel : 11 jours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309360" y="1828800"/>
            <a:ext cx="2423160" cy="310896"/>
          </a:xfrm>
          <a:prstGeom prst="rect">
            <a:avLst/>
          </a:prstGeom>
          <a:solidFill>
            <a:srgbClr val="2E6DB4"/>
          </a:solidFill>
          <a:ln cap="flat" cmpd="sng" w="12700">
            <a:solidFill>
              <a:srgbClr val="2E6D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6355080" y="185623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76% des commandes livrées en &gt; 7 jours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274320" y="2514600"/>
            <a:ext cx="8595360" cy="1097280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274320" y="2514600"/>
            <a:ext cx="73152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457200" y="2834640"/>
            <a:ext cx="411480" cy="41148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457200" y="28346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1051560" y="2587752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Convertir les clients uniques en habitude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1051560" y="295351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97% des clients ne commandent qu'une seule fois. Programme de réactivation ciblé post-livraison (email J+30 par catégorie). La base de 77 004 clients one-shot est le principal gisement de croissance.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309360" y="2651760"/>
            <a:ext cx="2423160" cy="31089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6355080" y="267919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77 004 clients one-shot à réactiver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6309360" y="3063240"/>
            <a:ext cx="2423160" cy="31089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6355080" y="309067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Taux de récurrence actuel : 3%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FF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274320" y="3749040"/>
            <a:ext cx="73152" cy="10972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457200" y="4069080"/>
            <a:ext cx="411480" cy="41148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457200" y="4069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1051560" y="3822192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Élever la qualité vendeurs — monter en gamme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051560" y="418795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42% des vendeurs ont moins de 5 commandes et contribuent marginalement au CA. Les produits avec 3 photos+ génèrent 19% de CA en plus que ceux avec 1 seule photo.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309360" y="3886200"/>
            <a:ext cx="2423160" cy="31089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6355080" y="391363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+19% CA avec 3 photos vs 1 photo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6309360" y="4297680"/>
            <a:ext cx="2423160" cy="31089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6355080" y="432511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49,7% des produits : 1 seule photo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 où commencer — 90 jours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274320" y="1280160"/>
            <a:ext cx="2834640" cy="347472"/>
          </a:xfrm>
          <a:prstGeom prst="rect">
            <a:avLst/>
          </a:prstGeom>
          <a:solidFill>
            <a:srgbClr val="2E6DB4"/>
          </a:solidFill>
          <a:ln cap="flat" cmpd="sng" w="12700">
            <a:solidFill>
              <a:srgbClr val="2E6D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274320" y="1280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 – 30 jours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274320" y="1627632"/>
            <a:ext cx="2834640" cy="21488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365760" y="1719072"/>
            <a:ext cx="26517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Déployer le modèle ML en production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Afficher la date de livraison estimée à chaque commande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Segmenter les vendeurs par volume de commandes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246120" y="1280160"/>
            <a:ext cx="283464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3246120" y="1280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– 60 jours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3246120" y="1627632"/>
            <a:ext cx="2834640" cy="21488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3337560" y="1719072"/>
            <a:ext cx="26517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Lancer une campagne email de réactivation J+30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Créer le programme 'vendeur certifié'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Orienter les commandes vers les vendeurs proches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217920" y="1280160"/>
            <a:ext cx="2834640" cy="3474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6217920" y="1280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 – 90 jours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217920" y="1627632"/>
            <a:ext cx="2834640" cy="21488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6309360" y="1719072"/>
            <a:ext cx="26517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Mesurer l'impact sur le taux de rétention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Piloter les KPIs : délai médian, taux récurrence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274320" y="388620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Objectifs cibles — à définir avec l'équipe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274320" y="4133088"/>
            <a:ext cx="2743200" cy="685800"/>
          </a:xfrm>
          <a:prstGeom prst="rect">
            <a:avLst/>
          </a:prstGeom>
          <a:solidFill>
            <a:srgbClr val="FFF7ED"/>
          </a:solidFill>
          <a:ln cap="flat" cmpd="sng" w="15225">
            <a:solidFill>
              <a:srgbClr val="F59E0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274320" y="413308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9–10 jours (vs 11j actuel)</a:t>
            </a:r>
            <a:endParaRPr b="1" i="0" sz="1000" u="none" cap="none" strike="noStrike">
              <a:solidFill>
                <a:srgbClr val="92400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3246120" y="4133088"/>
            <a:ext cx="2743200" cy="685800"/>
          </a:xfrm>
          <a:prstGeom prst="rect">
            <a:avLst/>
          </a:prstGeom>
          <a:solidFill>
            <a:srgbClr val="FFF7ED"/>
          </a:solidFill>
          <a:ln cap="flat" cmpd="sng" w="15225">
            <a:solidFill>
              <a:srgbClr val="F59E0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3246120" y="413308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8% (vs 3.0% actuel)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6217920" y="4133088"/>
            <a:ext cx="2743200" cy="685800"/>
          </a:xfrm>
          <a:prstGeom prst="rect">
            <a:avLst/>
          </a:prstGeom>
          <a:solidFill>
            <a:srgbClr val="FFF7ED"/>
          </a:solidFill>
          <a:ln cap="flat" cmpd="sng" w="15225">
            <a:solidFill>
              <a:srgbClr val="F59E0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6217920" y="427023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15 commandes/vendeur minimum (actuellement 7 commandes/vendeur en médiane)</a:t>
            </a:r>
            <a:endParaRPr b="1" sz="1000">
              <a:solidFill>
                <a:srgbClr val="92400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92400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365760" y="41148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 que les données nous disent clairement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365760" y="1371600"/>
            <a:ext cx="640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1097280" y="14630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délai de livraison est le levier #1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097280" y="1828800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Il explique la non-rétention des clients et la sous-performance des vendeurs éloignés. Le modèle ML n'est pas qu'un outil technique — c'est un outil de satisfaction client direct.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365760" y="2560320"/>
            <a:ext cx="640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1097280" y="26517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rétention est la priorité business absolue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1097280" y="3017520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Acquérir 79 371 clients pour en fidéliser seulement 2 367 (3%) est un problème structurel. La base de 77 004 clients one-shot représente le principal gisement de croissance sans acquisition supplémentaire.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365760" y="3749040"/>
            <a:ext cx="640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1097280" y="384048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qualité bat la quantité pour les vendeurs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1097280" y="4206240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Moins de vendeurs, mieux accompagnés, avec de meilleurs listings — c'est plus rentable que multiplier les vendeurs inactifs. +19% de CA avec 3 photos, c'est une action immédiatement actionnable.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2026-06-06T12:36:38Z</dcterms:created>
  <dc:creator>PptxGenJS</dc:creator>
</cp:coreProperties>
</file>